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</p:sldMasterIdLst>
  <p:notesMasterIdLst>
    <p:notesMasterId r:id="rId16"/>
  </p:notesMasterIdLst>
  <p:handoutMasterIdLst>
    <p:handoutMasterId r:id="rId17"/>
  </p:handoutMasterIdLst>
  <p:sldIdLst>
    <p:sldId id="324" r:id="rId2"/>
    <p:sldId id="325" r:id="rId3"/>
    <p:sldId id="326" r:id="rId4"/>
    <p:sldId id="329" r:id="rId5"/>
    <p:sldId id="274" r:id="rId6"/>
    <p:sldId id="296" r:id="rId7"/>
    <p:sldId id="370" r:id="rId8"/>
    <p:sldId id="371" r:id="rId9"/>
    <p:sldId id="372" r:id="rId10"/>
    <p:sldId id="373" r:id="rId11"/>
    <p:sldId id="375" r:id="rId12"/>
    <p:sldId id="376" r:id="rId13"/>
    <p:sldId id="366" r:id="rId14"/>
    <p:sldId id="30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9482CDB-C56B-4D12-B724-B914B38950C1}">
  <a:tblStyle styleId="{29482CDB-C56B-4D12-B724-B914B38950C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3F7EF"/>
          </a:solidFill>
        </a:fill>
      </a:tcStyle>
    </a:wholeTbl>
    <a:band1H>
      <a:tcStyle>
        <a:tcBdr/>
        <a:fill>
          <a:solidFill>
            <a:srgbClr val="E7EFDE"/>
          </a:solidFill>
        </a:fill>
      </a:tcStyle>
    </a:band1H>
    <a:band1V>
      <a:tcStyle>
        <a:tcBdr/>
        <a:fill>
          <a:solidFill>
            <a:srgbClr val="E7EFDE"/>
          </a:solidFill>
        </a:fill>
      </a:tcStyle>
    </a:band1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77688" autoAdjust="0"/>
  </p:normalViewPr>
  <p:slideViewPr>
    <p:cSldViewPr>
      <p:cViewPr varScale="1">
        <p:scale>
          <a:sx n="71" d="100"/>
          <a:sy n="71" d="100"/>
        </p:scale>
        <p:origin x="-54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2A0B0-81DF-4909-A3E4-F1AF1977C2EB}" type="datetimeFigureOut">
              <a:rPr lang="en-US" smtClean="0"/>
              <a:t>4/5/2017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28A19-99A0-4F11-AEBB-9BDA11C1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06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725875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" name="Shape 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validate command checks the structures within a namespace for correctness by scanning the collection’s data and indexes. </a:t>
            </a:r>
          </a:p>
          <a:p>
            <a:r>
              <a:rPr lang="en-US" dirty="0" smtClean="0"/>
              <a:t>The command returns information regarding the on-disk representation of the collection.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75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81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296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5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rgbClr val="242423"/>
              </a:buClr>
              <a:buFont typeface="Arial"/>
              <a:buNone/>
              <a:defRPr sz="3600" b="1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498010" y="6396907"/>
            <a:ext cx="30969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Shape 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10345" y="6350716"/>
            <a:ext cx="977899" cy="3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24242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14400" y="2130425"/>
            <a:ext cx="103632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rgbClr val="FFFFFF"/>
              </a:buClr>
              <a:buFont typeface="Arial"/>
              <a:buNone/>
              <a:defRPr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320"/>
              </a:spcBef>
              <a:buClr>
                <a:srgbClr val="FFFFFF"/>
              </a:buClr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33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rgbClr val="242423"/>
              </a:buClr>
              <a:buFont typeface="Arial"/>
              <a:buNone/>
              <a:defRPr sz="3600" b="1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609600" y="1471083"/>
            <a:ext cx="10972799" cy="497416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41300" algn="l" rtl="0">
              <a:spcBef>
                <a:spcPts val="320"/>
              </a:spcBef>
              <a:buClr>
                <a:srgbClr val="24242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24242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24242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24242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242423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498010" y="6396907"/>
            <a:ext cx="30969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Shape 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17652" y="6355035"/>
            <a:ext cx="977899" cy="266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966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rgbClr val="242423"/>
              </a:buClr>
              <a:buFont typeface="Arial"/>
              <a:buNone/>
              <a:defRPr sz="3600" b="1" i="0" u="none" strike="noStrike" cap="none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609600" y="1471083"/>
            <a:ext cx="10972799" cy="497416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41300" algn="l" rtl="0">
              <a:spcBef>
                <a:spcPts val="320"/>
              </a:spcBef>
              <a:buClr>
                <a:srgbClr val="6D6C6C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6D6C6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6D6C6C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rgbClr val="6D6C6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6D6C6C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6D6C6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6D6C6C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rgbClr val="6D6C6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6D6C6C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6D6C6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6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rrell0/MongoDB-Developers-Noteboo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Shape 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800" y="2403505"/>
            <a:ext cx="4572000" cy="2050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030793" y="5257637"/>
            <a:ext cx="3749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 smtClean="0">
                <a:solidFill>
                  <a:schemeClr val="bg1"/>
                </a:solidFill>
              </a:rPr>
              <a:t>mongoDB</a:t>
            </a:r>
            <a:r>
              <a:rPr lang="en-US" sz="3600" dirty="0" smtClean="0">
                <a:solidFill>
                  <a:schemeClr val="bg1"/>
                </a:solidFill>
              </a:rPr>
              <a:t> Query </a:t>
            </a:r>
          </a:p>
          <a:p>
            <a:pPr algn="ctr"/>
            <a:r>
              <a:rPr lang="en-US" sz="3600" dirty="0" err="1" smtClean="0">
                <a:solidFill>
                  <a:schemeClr val="bg1"/>
                </a:solidFill>
              </a:rPr>
              <a:t>Hackathon</a:t>
            </a:r>
            <a:r>
              <a:rPr lang="en-US" sz="3600" dirty="0" smtClean="0">
                <a:solidFill>
                  <a:schemeClr val="bg1"/>
                </a:solidFill>
              </a:rPr>
              <a:t>: 1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49294"/>
            <a:ext cx="6019800" cy="399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670101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676400"/>
            <a:ext cx="3344046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hape 110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rgbClr val="242423"/>
              </a:buClr>
              <a:buSzPct val="25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rPr>
              <a:t>Daily stand up</a:t>
            </a:r>
            <a:endParaRPr lang="en-US" sz="3600" b="1" i="0" u="none" strike="noStrike" cap="none" dirty="0">
              <a:solidFill>
                <a:srgbClr val="24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1600200"/>
            <a:ext cx="6019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endParaRPr lang="en-US" sz="2400" dirty="0" smtClean="0"/>
          </a:p>
          <a:p>
            <a:pPr marL="342900" indent="-342900">
              <a:buFont typeface="Arial"/>
              <a:buChar char="•"/>
            </a:pPr>
            <a:r>
              <a:rPr lang="en-US" sz="2400" dirty="0" smtClean="0"/>
              <a:t>Name, Company Name</a:t>
            </a:r>
            <a:endParaRPr lang="en-US" sz="2400" dirty="0" smtClean="0"/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 smtClean="0"/>
              <a:t>Something about Mongo admin/coding you know that no one else here knows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 smtClean="0"/>
              <a:t>Something about Mongo you wish you knew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 smtClean="0"/>
              <a:t>Your next major Mongo project</a:t>
            </a:r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095633" y="1981200"/>
            <a:ext cx="1826191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Start at </a:t>
            </a:r>
          </a:p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the end</a:t>
            </a: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0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10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rgbClr val="242423"/>
              </a:buClr>
              <a:buSzPct val="25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rPr>
              <a:t>Something I know</a:t>
            </a:r>
            <a:endParaRPr lang="en-US" sz="3600" b="1" i="0" u="none" strike="noStrike" cap="none" dirty="0">
              <a:solidFill>
                <a:srgbClr val="24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442715"/>
            <a:ext cx="53340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 know ..</a:t>
            </a:r>
            <a:endParaRPr lang="en-US" sz="3200" dirty="0" smtClean="0"/>
          </a:p>
          <a:p>
            <a:endParaRPr lang="en-US" sz="2400" dirty="0"/>
          </a:p>
          <a:p>
            <a:pPr marL="457200" indent="-223838">
              <a:buFont typeface="Arial" pitchFamily="34" charset="0"/>
              <a:buChar char="•"/>
            </a:pPr>
            <a:r>
              <a:rPr lang="en-US" sz="2400" dirty="0" smtClean="0"/>
              <a:t>The US city name most common across states.</a:t>
            </a:r>
          </a:p>
          <a:p>
            <a:pPr marL="457200" indent="-223838">
              <a:buFont typeface="Arial" pitchFamily="34" charset="0"/>
              <a:buChar char="•"/>
            </a:pPr>
            <a:r>
              <a:rPr lang="en-US" sz="2400" dirty="0" smtClean="0"/>
              <a:t>The US state name with the highest number of unique city names. </a:t>
            </a:r>
          </a:p>
          <a:p>
            <a:pPr marL="457200" indent="-223838">
              <a:buFont typeface="Arial" pitchFamily="34" charset="0"/>
              <a:buChar char="•"/>
            </a:pPr>
            <a:r>
              <a:rPr lang="en-US" sz="2400" dirty="0" smtClean="0"/>
              <a:t>Whether my airline plays fair with data.</a:t>
            </a:r>
            <a:endParaRPr lang="en-US" sz="2400" dirty="0" smtClean="0"/>
          </a:p>
          <a:p>
            <a:pPr marL="457200" indent="-223838">
              <a:buFont typeface="Arial" pitchFamily="34" charset="0"/>
              <a:buChar char="•"/>
            </a:pPr>
            <a:endParaRPr lang="en-US" sz="24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448" y="1451680"/>
            <a:ext cx="6066384" cy="411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450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0"/>
          <p:cNvSpPr txBox="1">
            <a:spLocks noGrp="1"/>
          </p:cNvSpPr>
          <p:nvPr>
            <p:ph type="title"/>
          </p:nvPr>
        </p:nvSpPr>
        <p:spPr>
          <a:xfrm>
            <a:off x="609600" y="10055"/>
            <a:ext cx="10972799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42423"/>
              </a:buClr>
              <a:buSzPct val="250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rPr>
              <a:t>Rules of </a:t>
            </a:r>
            <a:r>
              <a:rPr lang="en-US" sz="3600" b="1" i="0" u="none" strike="noStrike" cap="none" dirty="0" smtClean="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lang="en-US" sz="3600" b="1" i="0" u="none" strike="noStrike" cap="none" dirty="0">
              <a:solidFill>
                <a:srgbClr val="24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422329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76800" y="2895600"/>
            <a:ext cx="533400" cy="459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38800" y="1474857"/>
            <a:ext cx="64008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Source material at,</a:t>
            </a:r>
          </a:p>
          <a:p>
            <a:r>
              <a:rPr lang="en-US" sz="2000" dirty="0" smtClean="0"/>
              <a:t>Google query :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developers notebook</a:t>
            </a:r>
          </a:p>
          <a:p>
            <a:endParaRPr lang="en-US" sz="2000" dirty="0"/>
          </a:p>
          <a:p>
            <a:r>
              <a:rPr lang="en-US" sz="2000" dirty="0" smtClean="0"/>
              <a:t>This event: June/2017</a:t>
            </a:r>
          </a:p>
          <a:p>
            <a:r>
              <a:rPr lang="en-US" sz="1800" dirty="0" smtClean="0"/>
              <a:t>Query primer: June/2016</a:t>
            </a:r>
          </a:p>
          <a:p>
            <a:r>
              <a:rPr lang="en-US" sz="1800" dirty="0" smtClean="0"/>
              <a:t>More queries: September/2016</a:t>
            </a:r>
          </a:p>
          <a:p>
            <a:r>
              <a:rPr lang="en-US" sz="2000" dirty="0" smtClean="0"/>
              <a:t>Tar Ball: also on the </a:t>
            </a:r>
            <a:r>
              <a:rPr lang="en-US" sz="2000" dirty="0" err="1" smtClean="0"/>
              <a:t>GitHub</a:t>
            </a:r>
            <a:r>
              <a:rPr lang="en-US" sz="2000" dirty="0" smtClean="0"/>
              <a:t> site</a:t>
            </a:r>
          </a:p>
          <a:p>
            <a:endParaRPr lang="en-US" sz="2000" dirty="0"/>
          </a:p>
          <a:p>
            <a:r>
              <a:rPr lang="en-US" sz="2000" dirty="0" smtClean="0"/>
              <a:t>You need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installed, working</a:t>
            </a:r>
          </a:p>
          <a:p>
            <a:r>
              <a:rPr lang="en-US" sz="2000" dirty="0" smtClean="0"/>
              <a:t>Examples given in Python/</a:t>
            </a:r>
            <a:r>
              <a:rPr lang="en-US" sz="2000" dirty="0" err="1" smtClean="0"/>
              <a:t>PyMongo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Brief primer, then hack, time limit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20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399" y="685800"/>
            <a:ext cx="2417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And </a:t>
            </a:r>
            <a:r>
              <a:rPr lang="en-US" sz="3200" dirty="0" err="1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first’ish</a:t>
            </a:r>
            <a:r>
              <a:rPr lang="en-US" sz="32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:</a:t>
            </a:r>
            <a:endParaRPr lang="en-US" sz="32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999" y="1371600"/>
            <a:ext cx="56297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2625"/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Y/N  I have more than 24 months 	experience with SQL</a:t>
            </a:r>
          </a:p>
          <a:p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Y/N  I have more than   6 months </a:t>
            </a:r>
          </a:p>
          <a:p>
            <a:pPr defTabSz="682625"/>
            <a:r>
              <a:rPr lang="en-US" sz="2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	</a:t>
            </a:r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experience with </a:t>
            </a:r>
            <a:r>
              <a:rPr lang="en-US" sz="2400" dirty="0" err="1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MongoDB</a:t>
            </a:r>
            <a:endParaRPr lang="en-US" sz="2400" dirty="0" smtClean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Y/N  I have written every query in 	</a:t>
            </a:r>
            <a:r>
              <a:rPr lang="en-US" sz="2400" dirty="0" err="1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MongoDB</a:t>
            </a:r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 I ever needed, and 	was happy</a:t>
            </a:r>
          </a:p>
          <a:p>
            <a:endParaRPr lang="en-US" sz="24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Y/N  Puppies scare me</a:t>
            </a:r>
            <a:endParaRPr lang="en-US" sz="24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009" y="820648"/>
            <a:ext cx="4366323" cy="5427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737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Query primer, find ..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91200" y="2209800"/>
            <a:ext cx="5867400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 err="1"/>
              <a:t>db.zips.find</a:t>
            </a:r>
            <a:r>
              <a:rPr lang="en-US" sz="4000" baseline="30000" dirty="0"/>
              <a:t>( </a:t>
            </a:r>
            <a:endParaRPr lang="en-US" sz="4000" baseline="30000" dirty="0" smtClean="0"/>
          </a:p>
          <a:p>
            <a:r>
              <a:rPr lang="en-US" sz="4000" baseline="30000" dirty="0" smtClean="0"/>
              <a:t>{ </a:t>
            </a:r>
          </a:p>
          <a:p>
            <a:r>
              <a:rPr lang="en-US" sz="4000" baseline="30000" dirty="0" smtClean="0"/>
              <a:t>"</a:t>
            </a:r>
            <a:r>
              <a:rPr lang="en-US" sz="4000" baseline="30000" dirty="0"/>
              <a:t>state" : "WI", "pop" :{ "$</a:t>
            </a:r>
            <a:r>
              <a:rPr lang="en-US" sz="4000" baseline="30000" dirty="0" err="1"/>
              <a:t>lt</a:t>
            </a:r>
            <a:r>
              <a:rPr lang="en-US" sz="4000" baseline="30000" dirty="0"/>
              <a:t>" : 8000 </a:t>
            </a:r>
            <a:r>
              <a:rPr lang="en-US" sz="4000" baseline="30000" dirty="0" smtClean="0"/>
              <a:t>}</a:t>
            </a:r>
          </a:p>
          <a:p>
            <a:r>
              <a:rPr lang="en-US" sz="4000" baseline="30000" dirty="0" smtClean="0"/>
              <a:t>} </a:t>
            </a:r>
          </a:p>
          <a:p>
            <a:pPr>
              <a:tabLst>
                <a:tab pos="2178050" algn="l"/>
              </a:tabLst>
            </a:pPr>
            <a:r>
              <a:rPr lang="en-US" sz="4000" baseline="30000" dirty="0" smtClean="0"/>
              <a:t>).</a:t>
            </a:r>
            <a:r>
              <a:rPr lang="en-US" sz="4000" baseline="30000" dirty="0"/>
              <a:t>sort( "city" , 1 ).limit( 20 ) </a:t>
            </a:r>
            <a:endParaRPr lang="en-US" sz="40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03294"/>
            <a:ext cx="357703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12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181600" y="420220"/>
            <a:ext cx="6400799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3600" b="1" dirty="0" smtClean="0"/>
              <a:t>Query primer, aggregate() ..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64458" y="411255"/>
            <a:ext cx="5867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 err="1"/>
              <a:t>db.zips.aggregate</a:t>
            </a:r>
            <a:r>
              <a:rPr lang="en-US" sz="4000" baseline="30000" dirty="0" smtClean="0"/>
              <a:t>(</a:t>
            </a:r>
          </a:p>
          <a:p>
            <a:r>
              <a:rPr lang="en-US" sz="4000" baseline="30000" dirty="0" smtClean="0"/>
              <a:t>[</a:t>
            </a:r>
          </a:p>
          <a:p>
            <a:r>
              <a:rPr lang="en-US" sz="4000" baseline="30000" dirty="0" smtClean="0"/>
              <a:t>{ </a:t>
            </a:r>
            <a:r>
              <a:rPr lang="en-US" sz="4000" baseline="30000" dirty="0"/>
              <a:t>"$group" :                      </a:t>
            </a:r>
            <a:endParaRPr lang="en-US" sz="4000" baseline="30000" dirty="0" smtClean="0"/>
          </a:p>
          <a:p>
            <a:r>
              <a:rPr lang="en-US" sz="4000" baseline="30000" dirty="0" smtClean="0"/>
              <a:t>   {</a:t>
            </a:r>
          </a:p>
          <a:p>
            <a:r>
              <a:rPr lang="en-US" sz="4000" baseline="30000" dirty="0"/>
              <a:t> </a:t>
            </a:r>
            <a:r>
              <a:rPr lang="en-US" sz="4000" baseline="30000" dirty="0" smtClean="0"/>
              <a:t>  "_</a:t>
            </a:r>
            <a:r>
              <a:rPr lang="en-US" sz="4000" baseline="30000" dirty="0"/>
              <a:t>id"       : "$state</a:t>
            </a:r>
            <a:r>
              <a:rPr lang="en-US" sz="4000" baseline="30000" dirty="0" smtClean="0"/>
              <a:t>",</a:t>
            </a:r>
          </a:p>
          <a:p>
            <a:r>
              <a:rPr lang="en-US" sz="4000" baseline="30000" dirty="0"/>
              <a:t> </a:t>
            </a:r>
            <a:r>
              <a:rPr lang="en-US" sz="4000" dirty="0" smtClean="0"/>
              <a:t>  </a:t>
            </a:r>
            <a:r>
              <a:rPr lang="en-US" sz="4000" baseline="30000" dirty="0" smtClean="0"/>
              <a:t>"</a:t>
            </a:r>
            <a:r>
              <a:rPr lang="en-US" sz="4000" baseline="30000" dirty="0" err="1"/>
              <a:t>totalPop</a:t>
            </a:r>
            <a:r>
              <a:rPr lang="en-US" sz="4000" baseline="30000" dirty="0"/>
              <a:t>"  : { "$sum" : "$pop" </a:t>
            </a:r>
            <a:r>
              <a:rPr lang="en-US" sz="4000" baseline="30000" dirty="0" smtClean="0"/>
              <a:t>},</a:t>
            </a:r>
          </a:p>
          <a:p>
            <a:r>
              <a:rPr lang="en-US" sz="4000" baseline="30000" dirty="0"/>
              <a:t> </a:t>
            </a:r>
            <a:r>
              <a:rPr lang="en-US" sz="4000" dirty="0" smtClean="0"/>
              <a:t>  </a:t>
            </a:r>
            <a:r>
              <a:rPr lang="en-US" sz="4000" baseline="30000" dirty="0" smtClean="0"/>
              <a:t>"</a:t>
            </a:r>
            <a:r>
              <a:rPr lang="en-US" sz="4000" baseline="30000" dirty="0" err="1"/>
              <a:t>cityCount</a:t>
            </a:r>
            <a:r>
              <a:rPr lang="en-US" sz="4000" baseline="30000" dirty="0"/>
              <a:t>" : { "$sum" : 1 </a:t>
            </a:r>
            <a:r>
              <a:rPr lang="en-US" sz="4000" baseline="30000" dirty="0" smtClean="0"/>
              <a:t>}</a:t>
            </a:r>
          </a:p>
          <a:p>
            <a:r>
              <a:rPr lang="en-US" sz="4000" baseline="30000" dirty="0"/>
              <a:t> </a:t>
            </a:r>
            <a:r>
              <a:rPr lang="en-US" sz="4000" dirty="0" smtClean="0"/>
              <a:t>  </a:t>
            </a:r>
            <a:r>
              <a:rPr lang="en-US" sz="4000" baseline="30000" dirty="0" smtClean="0"/>
              <a:t>}</a:t>
            </a:r>
          </a:p>
          <a:p>
            <a:r>
              <a:rPr lang="en-US" sz="4000" baseline="30000" dirty="0" smtClean="0"/>
              <a:t>},</a:t>
            </a:r>
          </a:p>
          <a:p>
            <a:r>
              <a:rPr lang="en-US" sz="4000" baseline="30000" dirty="0" smtClean="0"/>
              <a:t>{ </a:t>
            </a:r>
          </a:p>
          <a:p>
            <a:r>
              <a:rPr lang="en-US" sz="4000" baseline="30000" dirty="0" smtClean="0"/>
              <a:t>"$</a:t>
            </a:r>
            <a:r>
              <a:rPr lang="en-US" sz="4000" baseline="30000" dirty="0"/>
              <a:t>sort" </a:t>
            </a:r>
            <a:r>
              <a:rPr lang="en-US" sz="4000" baseline="30000" dirty="0" smtClean="0"/>
              <a:t>: {"_</a:t>
            </a:r>
            <a:r>
              <a:rPr lang="en-US" sz="4000" baseline="30000" dirty="0"/>
              <a:t>id" : 1 </a:t>
            </a:r>
            <a:r>
              <a:rPr lang="en-US" sz="4000" baseline="30000" dirty="0" smtClean="0"/>
              <a:t>}</a:t>
            </a:r>
          </a:p>
          <a:p>
            <a:r>
              <a:rPr lang="en-US" sz="4000" baseline="30000" dirty="0" smtClean="0"/>
              <a:t>} </a:t>
            </a:r>
          </a:p>
          <a:p>
            <a:r>
              <a:rPr lang="en-US" sz="4000" baseline="30000" dirty="0" smtClean="0"/>
              <a:t>]</a:t>
            </a:r>
            <a:r>
              <a:rPr lang="en-US" sz="4000" dirty="0" smtClean="0"/>
              <a:t> </a:t>
            </a:r>
            <a:r>
              <a:rPr lang="en-US" sz="4000" baseline="30000" dirty="0" smtClean="0"/>
              <a:t>)</a:t>
            </a:r>
            <a:endParaRPr lang="en-US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89" y="1563220"/>
            <a:ext cx="5542841" cy="415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91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8600" y="420220"/>
            <a:ext cx="10134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b="1" dirty="0" smtClean="0"/>
              <a:t>Loading the data, resource kit ..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086600" y="1752600"/>
            <a:ext cx="4191000" cy="399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/>
              <a:t># </a:t>
            </a:r>
            <a:r>
              <a:rPr lang="en-US" sz="4000" baseline="30000" dirty="0" err="1"/>
              <a:t>pwd</a:t>
            </a:r>
            <a:r>
              <a:rPr lang="en-US" sz="4000" baseline="30000" dirty="0"/>
              <a:t> </a:t>
            </a:r>
            <a:endParaRPr lang="en-US" sz="4000" baseline="30000" dirty="0" smtClean="0"/>
          </a:p>
          <a:p>
            <a:r>
              <a:rPr lang="en-US" sz="4000" baseline="30000" dirty="0" smtClean="0"/>
              <a:t>./</a:t>
            </a:r>
            <a:r>
              <a:rPr lang="en-US" sz="4000" baseline="30000" dirty="0"/>
              <a:t>02 Files </a:t>
            </a:r>
            <a:endParaRPr lang="en-US" sz="4000" baseline="30000" dirty="0" smtClean="0"/>
          </a:p>
          <a:p>
            <a:endParaRPr lang="en-US" sz="4000" baseline="30000" dirty="0" smtClean="0"/>
          </a:p>
          <a:p>
            <a:r>
              <a:rPr lang="en-US" sz="4000" baseline="30000" dirty="0" smtClean="0"/>
              <a:t>#</a:t>
            </a:r>
            <a:r>
              <a:rPr lang="en-US" sz="4000" baseline="30000" dirty="0" err="1" smtClean="0"/>
              <a:t>ls</a:t>
            </a:r>
            <a:r>
              <a:rPr lang="en-US" sz="4000" baseline="30000" dirty="0" smtClean="0"/>
              <a:t> </a:t>
            </a:r>
          </a:p>
          <a:p>
            <a:r>
              <a:rPr lang="en-US" sz="4000" baseline="30000" dirty="0" smtClean="0"/>
              <a:t>01 </a:t>
            </a:r>
            <a:r>
              <a:rPr lang="en-US" sz="4000" baseline="30000" dirty="0"/>
              <a:t>loadZips.sh  </a:t>
            </a:r>
            <a:endParaRPr lang="en-US" sz="4000" baseline="30000" dirty="0" smtClean="0"/>
          </a:p>
          <a:p>
            <a:r>
              <a:rPr lang="en-US" sz="4000" baseline="30000" dirty="0" smtClean="0"/>
              <a:t>02 </a:t>
            </a:r>
            <a:r>
              <a:rPr lang="en-US" sz="4000" baseline="30000" dirty="0" err="1" smtClean="0"/>
              <a:t>zips.json</a:t>
            </a:r>
            <a:endParaRPr lang="en-US" sz="4000" baseline="30000" dirty="0" smtClean="0"/>
          </a:p>
          <a:p>
            <a:r>
              <a:rPr lang="en-US" sz="4000" baseline="30000" dirty="0" smtClean="0"/>
              <a:t>10 </a:t>
            </a:r>
            <a:r>
              <a:rPr lang="en-US" sz="4000" baseline="30000" dirty="0"/>
              <a:t>loadFlights.sh </a:t>
            </a:r>
            <a:endParaRPr lang="en-US" sz="4000" baseline="30000" dirty="0" smtClean="0"/>
          </a:p>
          <a:p>
            <a:r>
              <a:rPr lang="en-US" sz="4000" baseline="30000" dirty="0" smtClean="0"/>
              <a:t>11 FlightDataUA.csv</a:t>
            </a:r>
          </a:p>
          <a:p>
            <a:r>
              <a:rPr lang="en-US" sz="4000" baseline="30000" dirty="0" smtClean="0"/>
              <a:t>12.fieldTypes</a:t>
            </a:r>
            <a:endParaRPr lang="en-US" sz="4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63220"/>
            <a:ext cx="3733800" cy="436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935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20220"/>
            <a:ext cx="10134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b="1" dirty="0" smtClean="0"/>
              <a:t>Resource kit, in total ..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01706" y="2209800"/>
            <a:ext cx="6248400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 smtClean="0"/>
              <a:t>02 Files</a:t>
            </a:r>
          </a:p>
          <a:p>
            <a:r>
              <a:rPr lang="en-US" sz="4000" baseline="30000" dirty="0" smtClean="0"/>
              <a:t>20 </a:t>
            </a:r>
            <a:r>
              <a:rPr lang="en-US" sz="4000" baseline="30000" dirty="0"/>
              <a:t>Sample queries (</a:t>
            </a:r>
            <a:r>
              <a:rPr lang="en-US" sz="4000" baseline="30000" dirty="0" smtClean="0"/>
              <a:t>Zips and Flights)</a:t>
            </a:r>
          </a:p>
          <a:p>
            <a:r>
              <a:rPr lang="en-US" sz="4000" baseline="30000" dirty="0" smtClean="0"/>
              <a:t>80 </a:t>
            </a:r>
            <a:r>
              <a:rPr lang="en-US" sz="4000" baseline="30000" dirty="0"/>
              <a:t>Solutions</a:t>
            </a:r>
            <a:endParaRPr lang="en-US" sz="40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032" y="1165482"/>
            <a:ext cx="5595521" cy="3939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9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8600" y="420220"/>
            <a:ext cx="113538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3600" b="1" dirty="0" smtClean="0"/>
              <a:t>Question 1, in detail ..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42047" y="420220"/>
            <a:ext cx="6248400" cy="5837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/>
              <a:t>Which US city name is most common across </a:t>
            </a:r>
            <a:r>
              <a:rPr lang="en-US" sz="4000" baseline="30000" dirty="0" smtClean="0"/>
              <a:t>states ?</a:t>
            </a:r>
          </a:p>
          <a:p>
            <a:endParaRPr lang="en-US" sz="4000" baseline="30000" dirty="0" smtClean="0"/>
          </a:p>
          <a:p>
            <a:r>
              <a:rPr lang="en-US" sz="4000" baseline="30000" dirty="0" smtClean="0"/>
              <a:t>E.g., </a:t>
            </a:r>
            <a:r>
              <a:rPr lang="en-US" sz="4000" baseline="30000" dirty="0"/>
              <a:t>there is a Paris, Texas. Is there also a Paris, California, and so many other states with a city named Paris, that this name is most common </a:t>
            </a:r>
            <a:r>
              <a:rPr lang="en-US" sz="4000" baseline="30000" dirty="0" smtClean="0"/>
              <a:t>?</a:t>
            </a:r>
          </a:p>
          <a:p>
            <a:endParaRPr lang="en-US" sz="4000" baseline="30000" dirty="0" smtClean="0"/>
          </a:p>
          <a:p>
            <a:r>
              <a:rPr lang="en-US" sz="4000" baseline="30000" dirty="0"/>
              <a:t>Not only name the city which is most common across states, produce a single query that lists the city name, a count of its member states, and the state names to which that city name is found.</a:t>
            </a:r>
            <a:endParaRPr lang="en-US" sz="4000" baseline="3000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981200"/>
            <a:ext cx="545816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686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8600" y="420220"/>
            <a:ext cx="113538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b="1" dirty="0" smtClean="0"/>
              <a:t>Question 2, in detail ..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34000" y="1371600"/>
            <a:ext cx="6248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30000" dirty="0"/>
              <a:t>Name the state with the highest number of unique city names </a:t>
            </a:r>
            <a:r>
              <a:rPr lang="en-US" sz="4000" baseline="30000" dirty="0" smtClean="0"/>
              <a:t>?</a:t>
            </a:r>
          </a:p>
          <a:p>
            <a:endParaRPr lang="en-US" sz="4000" baseline="30000" dirty="0" smtClean="0"/>
          </a:p>
          <a:p>
            <a:r>
              <a:rPr lang="en-US" sz="4000" baseline="30000" dirty="0" smtClean="0"/>
              <a:t>E.g</a:t>
            </a:r>
            <a:r>
              <a:rPr lang="en-US" sz="4000" baseline="30000" dirty="0"/>
              <a:t>., as a US (state), District of Columbia has one city name not found in any other US state; its District of Columbia. Okay outlier example, but the point is made</a:t>
            </a:r>
            <a:r>
              <a:rPr lang="en-US" sz="4000" baseline="30000" dirty="0" smtClean="0"/>
              <a:t>.</a:t>
            </a:r>
          </a:p>
          <a:p>
            <a:endParaRPr lang="en-US" sz="4000" baseline="30000" dirty="0" smtClean="0"/>
          </a:p>
          <a:p>
            <a:r>
              <a:rPr lang="en-US" sz="4000" baseline="30000" dirty="0" smtClean="0"/>
              <a:t>Name </a:t>
            </a:r>
            <a:r>
              <a:rPr lang="en-US" sz="4000" baseline="30000" dirty="0"/>
              <a:t>the US state with the highest number of city names not found in other states.</a:t>
            </a:r>
            <a:endParaRPr lang="en-US" sz="4000" baseline="300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9" y="1833282"/>
            <a:ext cx="457805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036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8600" y="420220"/>
            <a:ext cx="113538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3600" b="1" dirty="0" smtClean="0"/>
              <a:t>Question 3, in detail ..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609600"/>
            <a:ext cx="5562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If the United Airlines flight from Denver to San Francisco historically took 2 hours, all of a sudden it seemed as though United Airlines was listing this as a 3 hour flight. (Times approximate, and I could be wrong</a:t>
            </a:r>
            <a:r>
              <a:rPr lang="en-US" sz="3600" baseline="30000" dirty="0" smtClean="0"/>
              <a:t>.)</a:t>
            </a:r>
          </a:p>
          <a:p>
            <a:endParaRPr lang="en-US" sz="3600" baseline="30000" dirty="0" smtClean="0"/>
          </a:p>
          <a:p>
            <a:r>
              <a:rPr lang="en-US" sz="3600" baseline="30000" dirty="0"/>
              <a:t>So the question is; is United Airlines actual on time performance higher than in year’s past, or is United Airlines fudging the data </a:t>
            </a:r>
            <a:r>
              <a:rPr lang="en-US" sz="3600" baseline="30000" dirty="0" smtClean="0"/>
              <a:t>?</a:t>
            </a:r>
          </a:p>
          <a:p>
            <a:endParaRPr lang="en-US" sz="3600" baseline="30000" dirty="0" smtClean="0"/>
          </a:p>
          <a:p>
            <a:r>
              <a:rPr lang="en-US" sz="3600" baseline="30000" dirty="0" smtClean="0"/>
              <a:t>We </a:t>
            </a:r>
            <a:r>
              <a:rPr lang="en-US" sz="3600" baseline="30000" dirty="0"/>
              <a:t>give you 2006 and 2016 performance data. You decide, and be prepared to defend your methodology and answer-</a:t>
            </a:r>
            <a:endParaRPr lang="en-US" sz="3600" baseline="3000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429" y="1563220"/>
            <a:ext cx="5781036" cy="323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017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85800" y="2613212"/>
            <a:ext cx="10972799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4800" dirty="0" smtClean="0"/>
              <a:t>How fun was that ?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4145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Resources: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1600200"/>
            <a:ext cx="730520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5"/>
                </a:solidFill>
              </a:rPr>
              <a:t>The parent to this </a:t>
            </a:r>
            <a:r>
              <a:rPr lang="en-US" sz="2400" dirty="0" err="1" smtClean="0">
                <a:solidFill>
                  <a:schemeClr val="accent5"/>
                </a:solidFill>
              </a:rPr>
              <a:t>preso</a:t>
            </a:r>
            <a:r>
              <a:rPr lang="en-US" sz="2400" dirty="0" smtClean="0">
                <a:solidFill>
                  <a:schemeClr val="accent5"/>
                </a:solidFill>
              </a:rPr>
              <a:t>,</a:t>
            </a:r>
          </a:p>
          <a:p>
            <a:pPr marL="463550"/>
            <a:r>
              <a:rPr lang="en-US" sz="2000" dirty="0">
                <a:solidFill>
                  <a:schemeClr val="accent5"/>
                </a:solidFill>
                <a:hlinkClick r:id="rId3"/>
              </a:rPr>
              <a:t>https://</a:t>
            </a:r>
            <a:r>
              <a:rPr lang="en-US" sz="2000" dirty="0" smtClean="0">
                <a:solidFill>
                  <a:schemeClr val="accent5"/>
                </a:solidFill>
                <a:hlinkClick r:id="rId3"/>
              </a:rPr>
              <a:t>github.com/farrell0/MongoDB-Developers-Notebook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5"/>
                </a:solidFill>
              </a:rPr>
              <a:t>University.MongoDB.com</a:t>
            </a:r>
          </a:p>
          <a:p>
            <a:endParaRPr lang="en-US" sz="2400" dirty="0">
              <a:solidFill>
                <a:schemeClr val="accent5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5"/>
                </a:solidFill>
              </a:rPr>
              <a:t>Call Dave Lutz, at home, .. .. On Sunday (early)</a:t>
            </a:r>
          </a:p>
          <a:p>
            <a:pPr marL="682625"/>
            <a:r>
              <a:rPr lang="en-US" sz="2400" dirty="0" smtClean="0">
                <a:solidFill>
                  <a:schemeClr val="accent5"/>
                </a:solidFill>
              </a:rPr>
              <a:t>(512)555/1212</a:t>
            </a:r>
            <a:endParaRPr lang="en-US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77088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Powerpoint Template">
  <a:themeElements>
    <a:clrScheme name="MongoDB 2">
      <a:dk1>
        <a:srgbClr val="000000"/>
      </a:dk1>
      <a:lt1>
        <a:srgbClr val="FFFFFF"/>
      </a:lt1>
      <a:dk2>
        <a:srgbClr val="242423"/>
      </a:dk2>
      <a:lt2>
        <a:srgbClr val="FFFFFF"/>
      </a:lt2>
      <a:accent1>
        <a:srgbClr val="BBD49E"/>
      </a:accent1>
      <a:accent2>
        <a:srgbClr val="9ABF75"/>
      </a:accent2>
      <a:accent3>
        <a:srgbClr val="7AAB4E"/>
      </a:accent3>
      <a:accent4>
        <a:srgbClr val="5B972B"/>
      </a:accent4>
      <a:accent5>
        <a:srgbClr val="416A20"/>
      </a:accent5>
      <a:accent6>
        <a:srgbClr val="294216"/>
      </a:accent6>
      <a:hlink>
        <a:srgbClr val="5B972B"/>
      </a:hlink>
      <a:folHlink>
        <a:srgbClr val="416A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4089</TotalTime>
  <Words>610</Words>
  <Application>Microsoft Office PowerPoint</Application>
  <PresentationFormat>Custom</PresentationFormat>
  <Paragraphs>105</Paragraphs>
  <Slides>14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Standard Powerpoint Template</vt:lpstr>
      <vt:lpstr>PowerPoint Presentation</vt:lpstr>
      <vt:lpstr>Daily stand up</vt:lpstr>
      <vt:lpstr>Something I know</vt:lpstr>
      <vt:lpstr>Rules of Engagement</vt:lpstr>
      <vt:lpstr>PowerPoint Presentation</vt:lpstr>
      <vt:lpstr>Query primer, find 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default</cp:lastModifiedBy>
  <cp:revision>86</cp:revision>
  <cp:lastPrinted>2017-04-05T17:38:03Z</cp:lastPrinted>
  <dcterms:modified xsi:type="dcterms:W3CDTF">2017-04-05T17:39:20Z</dcterms:modified>
</cp:coreProperties>
</file>